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D447AE-0640-4B68-93E1-F48C842FB9F7}" v="1" dt="2026-03-29T17:36:43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1522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ndran Rathinasabapathy" userId="8f079d080975a996" providerId="LiveId" clId="{16F65AB7-6BAD-45A1-993A-C8D9CCEBF953}"/>
    <pc:docChg chg="custSel modSld sldOrd">
      <pc:chgData name="Rajendran Rathinasabapathy" userId="8f079d080975a996" providerId="LiveId" clId="{16F65AB7-6BAD-45A1-993A-C8D9CCEBF953}" dt="2026-04-04T17:00:49.600" v="35"/>
      <pc:docMkLst>
        <pc:docMk/>
      </pc:docMkLst>
      <pc:sldChg chg="modSp mod">
        <pc:chgData name="Rajendran Rathinasabapathy" userId="8f079d080975a996" providerId="LiveId" clId="{16F65AB7-6BAD-45A1-993A-C8D9CCEBF953}" dt="2026-04-04T16:58:54.557" v="33" actId="20577"/>
        <pc:sldMkLst>
          <pc:docMk/>
          <pc:sldMk cId="0" sldId="259"/>
        </pc:sldMkLst>
        <pc:spChg chg="mod">
          <ac:chgData name="Rajendran Rathinasabapathy" userId="8f079d080975a996" providerId="LiveId" clId="{16F65AB7-6BAD-45A1-993A-C8D9CCEBF953}" dt="2026-04-04T16:58:54.557" v="33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Rajendran Rathinasabapathy" userId="8f079d080975a996" providerId="LiveId" clId="{16F65AB7-6BAD-45A1-993A-C8D9CCEBF953}" dt="2026-03-29T17:36:48.188" v="16" actId="20577"/>
        <pc:sldMkLst>
          <pc:docMk/>
          <pc:sldMk cId="0" sldId="263"/>
        </pc:sldMkLst>
        <pc:spChg chg="mod">
          <ac:chgData name="Rajendran Rathinasabapathy" userId="8f079d080975a996" providerId="LiveId" clId="{16F65AB7-6BAD-45A1-993A-C8D9CCEBF953}" dt="2026-03-29T17:36:48.188" v="16" actId="20577"/>
          <ac:spMkLst>
            <pc:docMk/>
            <pc:sldMk cId="0" sldId="263"/>
            <ac:spMk id="3" creationId="{00000000-0000-0000-0000-000000000000}"/>
          </ac:spMkLst>
        </pc:spChg>
      </pc:sldChg>
      <pc:sldChg chg="ord">
        <pc:chgData name="Rajendran Rathinasabapathy" userId="8f079d080975a996" providerId="LiveId" clId="{16F65AB7-6BAD-45A1-993A-C8D9CCEBF953}" dt="2026-04-04T17:00:49.600" v="35"/>
        <pc:sldMkLst>
          <pc:docMk/>
          <pc:sldMk cId="0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Marketing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TechSprint | SMB Growth across Australia, Middle East &amp;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/>
            <a:r>
              <a:rPr lang="en-US" sz="1800" dirty="0">
                <a:latin typeface="Calibri"/>
              </a:rPr>
              <a:t>TechSprint is a trusted partner for sole proprietors, small businesses, and medium organizations across India, Australia, and the Middle East.</a:t>
            </a:r>
          </a:p>
          <a:p>
            <a:pPr lvl="0"/>
            <a:r>
              <a:rPr lang="en-US" sz="1800" dirty="0">
                <a:latin typeface="Calibri"/>
              </a:rPr>
              <a:t>Seven core service lines: IT Maintenance &amp; Support, Application Change Management, FinOps Consulting, Cloud Engineering, Web Development, Accounting &amp; Bookkeeping, and E-commerce Platform Services.</a:t>
            </a:r>
          </a:p>
          <a:p>
            <a:pPr lvl="0"/>
            <a:r>
              <a:rPr lang="en-US" sz="1800" dirty="0">
                <a:latin typeface="Calibri"/>
              </a:rPr>
              <a:t>SaaS products planned from Year 2: IT Ops Dashboard, FinOps Insights Tool, Bookkeeping Automation Suite, and E-commerce Health Monitor.</a:t>
            </a:r>
          </a:p>
          <a:p>
            <a:pPr lvl="0"/>
            <a:r>
              <a:rPr lang="en-US" sz="1800" dirty="0">
                <a:latin typeface="Calibri"/>
              </a:rPr>
              <a:t>Enterprise-grade data governance is standard — multi-tenant isolation, data residency controls, and signed DPAs for every client.</a:t>
            </a:r>
          </a:p>
          <a:p>
            <a:pPr lvl="0"/>
            <a:r>
              <a:rPr lang="en-US" sz="1800" dirty="0">
                <a:latin typeface="Calibri"/>
              </a:rPr>
              <a:t>Strategy covers the full client lifecycle: from digital launch to cloud optimization, SaaS adoption, and regulatory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/>
            <a:r>
              <a:rPr lang="en-US" sz="1800" dirty="0">
                <a:latin typeface="Calibri"/>
              </a:rPr>
              <a:t>Sole proprietorships launching or expanding their digital presence and e-commerce storefronts.</a:t>
            </a:r>
          </a:p>
          <a:p>
            <a:pPr lvl="0"/>
            <a:r>
              <a:rPr lang="en-US" sz="1800" dirty="0">
                <a:latin typeface="Calibri"/>
              </a:rPr>
              <a:t>Small businesses transitioning from manual systems to scalable applications and managed accounting.</a:t>
            </a:r>
          </a:p>
          <a:p>
            <a:pPr lvl="0"/>
            <a:r>
              <a:rPr lang="en-US" sz="1800" dirty="0">
                <a:latin typeface="Calibri"/>
              </a:rPr>
              <a:t>Medium organizations requiring IT support, cloud optimization, application development, and regulatory compliance.</a:t>
            </a:r>
          </a:p>
          <a:p>
            <a:pPr lvl="0"/>
            <a:r>
              <a:rPr lang="en-US" sz="1800" dirty="0">
                <a:latin typeface="Calibri"/>
              </a:rPr>
              <a:t>Australian businesses needing GST/BAS compliance, local payroll/tax support, and cloud governance.</a:t>
            </a:r>
          </a:p>
          <a:p>
            <a:pPr lvl="0"/>
            <a:r>
              <a:rPr lang="en-US" sz="1800" dirty="0">
                <a:latin typeface="Calibri"/>
              </a:rPr>
              <a:t>SMBs in India, Australia, and the Middle East seeking an end-to-end managed services partner.</a:t>
            </a:r>
          </a:p>
          <a:p>
            <a:pPr lvl="0"/>
            <a:r>
              <a:rPr lang="en-US" sz="1800" dirty="0">
                <a:latin typeface="Calibri"/>
              </a:rPr>
              <a:t>Businesses in regulated industries (finance, healthcare, retail) requiring data privacy compliance and auditability.</a:t>
            </a:r>
          </a:p>
          <a:p>
            <a:pPr lvl="0"/>
            <a:r>
              <a:rPr lang="en-US" sz="1800" dirty="0">
                <a:latin typeface="Calibri"/>
              </a:rPr>
              <a:t>Companies seeking cost-effective, SLA-backed IT, FinOps, and e-commerce growth at 20–50% below local market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592" y="1625600"/>
            <a:ext cx="8229600" cy="4525963"/>
          </a:xfrm>
        </p:spPr>
        <p:txBody>
          <a:bodyPr wrap="square">
            <a:normAutofit fontScale="85000" lnSpcReduction="10000"/>
          </a:bodyPr>
          <a:lstStyle/>
          <a:p>
            <a:pPr lvl="0">
              <a:buFont typeface="+mj-lt"/>
              <a:buAutoNum type="arabicPeriod"/>
            </a:pPr>
            <a:r>
              <a:rPr lang="en-US" sz="1800" dirty="0">
                <a:latin typeface="Calibri"/>
              </a:rPr>
              <a:t>Discovery &amp; Website Needs: establish credibility online with a professional website and digital presence.</a:t>
            </a:r>
          </a:p>
          <a:p>
            <a:pPr lvl="0">
              <a:buFont typeface="+mj-lt"/>
              <a:buAutoNum type="arabicPeriod"/>
            </a:pPr>
            <a:r>
              <a:rPr lang="en-US" sz="1800" dirty="0">
                <a:latin typeface="Calibri"/>
              </a:rPr>
              <a:t>Digital Marketing &amp; Lead Generation: SEO, paid search, social media, and content-driven campaigns.</a:t>
            </a:r>
          </a:p>
          <a:p>
            <a:pPr lvl="0">
              <a:buFont typeface="+mj-lt"/>
              <a:buAutoNum type="arabicPeriod"/>
            </a:pPr>
            <a:r>
              <a:rPr lang="en-US" sz="1800" dirty="0">
                <a:latin typeface="Calibri"/>
              </a:rPr>
              <a:t>Operational Maturity: move from spreadsheets to stronger financial controls and business systems.</a:t>
            </a:r>
          </a:p>
          <a:p>
            <a:pPr lvl="0">
              <a:buFont typeface="+mj-lt"/>
              <a:buAutoNum type="arabicPeriod"/>
            </a:pPr>
            <a:r>
              <a:rPr lang="en-US" sz="1800" dirty="0">
                <a:latin typeface="Calibri"/>
              </a:rPr>
              <a:t>Software Adoption: dedicated accounting, inventory, and workflow applications (QuickBooks, Xero, MYOB).</a:t>
            </a:r>
          </a:p>
          <a:p>
            <a:pPr lvl="0">
              <a:buFont typeface="+mj-lt"/>
              <a:buAutoNum type="arabicPeriod"/>
            </a:pPr>
            <a:r>
              <a:rPr lang="en-US" sz="1800" dirty="0">
                <a:latin typeface="Calibri"/>
              </a:rPr>
              <a:t>Tax &amp; Compliance: country-specific GST/BAS (Australia), VAT (UAE), and GST (India) support.</a:t>
            </a:r>
          </a:p>
          <a:p>
            <a:pPr lvl="0">
              <a:buFont typeface="+mj-lt"/>
              <a:buAutoNum type="arabicPeriod"/>
            </a:pPr>
            <a:r>
              <a:rPr lang="en-US" sz="1800" dirty="0">
                <a:latin typeface="Calibri"/>
              </a:rPr>
              <a:t>IT Infrastructure &amp; Support: 24/7 monitoring, helpdesk, system administration, and security operations.</a:t>
            </a:r>
          </a:p>
          <a:p>
            <a:pPr lvl="0">
              <a:buFont typeface="+mj-lt"/>
              <a:buAutoNum type="arabicPeriod"/>
            </a:pPr>
            <a:r>
              <a:rPr lang="en-US" sz="1800" dirty="0">
                <a:latin typeface="Calibri"/>
              </a:rPr>
              <a:t>Cloud &amp; FinOps Optimization: cloud migration, cost governance, DevOps, and ongoing FinOps advisory.</a:t>
            </a:r>
          </a:p>
          <a:p>
            <a:pPr lvl="0">
              <a:buFont typeface="+mj-lt"/>
              <a:buAutoNum type="arabicPeriod"/>
            </a:pPr>
            <a:r>
              <a:rPr lang="en-US" sz="1800" dirty="0">
                <a:latin typeface="Calibri"/>
              </a:rPr>
              <a:t>Advanced Application Development: custom web applications and application change management.</a:t>
            </a:r>
          </a:p>
          <a:p>
            <a:pPr lvl="0">
              <a:buFont typeface="+mj-lt"/>
              <a:buAutoNum type="arabicPeriod"/>
            </a:pPr>
            <a:r>
              <a:rPr lang="en-US" sz="1800" dirty="0">
                <a:latin typeface="Calibri"/>
              </a:rPr>
              <a:t>SaaS Adoption: migrate from bespoke services to subscription-based self-serve tools at a predictable monthly cost.</a:t>
            </a:r>
          </a:p>
          <a:p>
            <a:pPr lvl="0">
              <a:buFont typeface="+mj-lt"/>
              <a:buAutoNum type="arabicPeriod"/>
            </a:pPr>
            <a:r>
              <a:rPr lang="en-US" sz="1800" dirty="0">
                <a:latin typeface="Calibri"/>
              </a:rPr>
              <a:t>Data Trust &amp; Compliance: multi-tenant isolation, data residency, signed DPAs, and RBAC — standard for every client.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/>
            <a:r>
              <a:rPr lang="en-US" sz="1800" dirty="0">
                <a:latin typeface="Calibri"/>
              </a:rPr>
              <a:t>End-to-end solutions across digital, financial, cloud, and compliance needs.</a:t>
            </a:r>
          </a:p>
          <a:p>
            <a:pPr lvl="0"/>
            <a:r>
              <a:rPr lang="en-US" sz="1800" dirty="0">
                <a:latin typeface="Calibri"/>
              </a:rPr>
              <a:t>From website development to digital marketing and brand growth.</a:t>
            </a:r>
          </a:p>
          <a:p>
            <a:pPr lvl="0"/>
            <a:r>
              <a:rPr lang="en-US" sz="1800" dirty="0">
                <a:latin typeface="Calibri"/>
              </a:rPr>
              <a:t>From basic bookkeeping to accounting automation and inventory management.</a:t>
            </a:r>
          </a:p>
          <a:p>
            <a:pPr lvl="0"/>
            <a:r>
              <a:rPr lang="en-US" sz="1800" dirty="0">
                <a:latin typeface="Calibri"/>
              </a:rPr>
              <a:t>From generic operations to country-specific tax compliance (Australia GST/BAS, UAE VAT, India GST).</a:t>
            </a:r>
          </a:p>
          <a:p>
            <a:pPr lvl="0"/>
            <a:r>
              <a:rPr lang="en-US" sz="1800" dirty="0">
                <a:latin typeface="Calibri"/>
              </a:rPr>
              <a:t>From IT maintenance and support to cloud engineering and custom application development.</a:t>
            </a:r>
          </a:p>
          <a:p>
            <a:pPr lvl="0"/>
            <a:r>
              <a:rPr lang="en-US" sz="1800" dirty="0">
                <a:latin typeface="Calibri"/>
              </a:rPr>
              <a:t>From bespoke service delivery to subscription-based SaaS products — IT monitoring, FinOps insights, bookkeeping automation, and e-commerce health tracking.</a:t>
            </a:r>
          </a:p>
          <a:p>
            <a:pPr lvl="0"/>
            <a:r>
              <a:rPr lang="en-US" sz="1800" dirty="0">
                <a:latin typeface="Calibri"/>
              </a:rPr>
              <a:t>From basic data handling to enterprise-grade data governance — multi-tenant architectures, data residency, DPAs, and compliance with DPDP, Australia Privacy Act, and UAE PDPL.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/>
            <a:r>
              <a:rPr lang="en-US" sz="1800" dirty="0">
                <a:latin typeface="Calibri"/>
              </a:rPr>
              <a:t>Acquire sole proprietors and small businesses seeking comprehensive IT, accounting, and e-commerce solutions.</a:t>
            </a:r>
          </a:p>
          <a:p>
            <a:pPr lvl="0"/>
            <a:r>
              <a:rPr lang="en-US" sz="1800" dirty="0">
                <a:latin typeface="Calibri"/>
              </a:rPr>
              <a:t>Build awareness of operational efficiency solutions: IT maintenance, application changes, bookkeeping, and cloud FinOps.</a:t>
            </a:r>
          </a:p>
          <a:p>
            <a:pPr lvl="0"/>
            <a:r>
              <a:rPr lang="en-US" sz="1800" dirty="0">
                <a:latin typeface="Calibri"/>
              </a:rPr>
              <a:t>Highlight Australia-specific accounting/tax packages (GST/BAS) and Middle East compliance requirements.</a:t>
            </a:r>
          </a:p>
          <a:p>
            <a:pPr lvl="0"/>
            <a:r>
              <a:rPr lang="en-US" sz="1800" dirty="0">
                <a:latin typeface="Calibri"/>
              </a:rPr>
              <a:t>Promote e-commerce platform services across Shopify, WooCommerce, BigCommerce, and Magento.</a:t>
            </a:r>
          </a:p>
          <a:p>
            <a:pPr lvl="0"/>
            <a:r>
              <a:rPr lang="en-US" sz="1800" dirty="0">
                <a:latin typeface="Calibri"/>
              </a:rPr>
              <a:t>Demonstrate ability to support business growth at every stage across all three geographies.</a:t>
            </a:r>
          </a:p>
          <a:p>
            <a:pPr lvl="0"/>
            <a:r>
              <a:rPr lang="en-US" sz="1800" dirty="0">
                <a:latin typeface="Calibri"/>
              </a:rPr>
              <a:t>Build client confidence in data governance — position multi-tenancy, data residency, and DPAs as standard, not premium.</a:t>
            </a:r>
          </a:p>
          <a:p>
            <a:pPr lvl="0"/>
            <a:r>
              <a:rPr lang="en-US" sz="1800" dirty="0">
                <a:latin typeface="Calibri"/>
              </a:rPr>
              <a:t>Position TechSprint as a SaaS provider in Year 2 — introduce subscription tools to existing clients and capture new inbound leads via product-led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Messaging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/>
            <a:r>
              <a:rPr lang="en-US" sz="1800" dirty="0">
                <a:latin typeface="Calibri"/>
              </a:rPr>
              <a:t>"Launch your brand online with a polished website and digital marketing strategy."</a:t>
            </a:r>
          </a:p>
          <a:p>
            <a:pPr lvl="0"/>
            <a:r>
              <a:rPr lang="en-US" sz="1800" dirty="0">
                <a:latin typeface="Calibri"/>
              </a:rPr>
              <a:t>"Move beyond spreadsheets with affordable accounting and inventory systems."</a:t>
            </a:r>
          </a:p>
          <a:p>
            <a:pPr lvl="0"/>
            <a:r>
              <a:rPr lang="en-US" sz="1800" dirty="0">
                <a:latin typeface="Calibri"/>
              </a:rPr>
              <a:t>"Stay compliant — Australia GST/BAS, UAE VAT, India GST — with one trusted partner."</a:t>
            </a:r>
          </a:p>
          <a:p>
            <a:pPr lvl="0"/>
            <a:r>
              <a:rPr lang="en-US" sz="1800" dirty="0">
                <a:latin typeface="Calibri"/>
              </a:rPr>
              <a:t>"Scale from sole proprietorship to small business with enterprise-grade support at SMB prices."</a:t>
            </a:r>
          </a:p>
          <a:p>
            <a:pPr lvl="0"/>
            <a:r>
              <a:rPr lang="en-US" sz="1800" dirty="0">
                <a:latin typeface="Calibri"/>
              </a:rPr>
              <a:t>"Secure your IT infrastructure with 24/7 monitoring, cloud optimization, and SLA-backed support."</a:t>
            </a:r>
          </a:p>
          <a:p>
            <a:pPr lvl="0"/>
            <a:r>
              <a:rPr lang="en-US" sz="1800" dirty="0">
                <a:latin typeface="Calibri"/>
              </a:rPr>
              <a:t>"Launch and scale your online store on any platform — Shopify, WooCommerce, BigCommerce, Magento, or custom."</a:t>
            </a:r>
          </a:p>
          <a:p>
            <a:pPr lvl="0"/>
            <a:r>
              <a:rPr lang="en-US" sz="1800" dirty="0">
                <a:latin typeface="Calibri"/>
              </a:rPr>
              <a:t>"Get SaaS-grade tools built by practitioners — IT monitoring, FinOps insights, bookkeeping automation, and e-commerce health by subscription."</a:t>
            </a:r>
          </a:p>
          <a:p>
            <a:pPr lvl="0"/>
            <a:r>
              <a:rPr lang="en-US" sz="1800" dirty="0">
                <a:latin typeface="Calibri"/>
              </a:rPr>
              <a:t>"Your data stays yours — multi-tenant isolation, data residency controls, and signed DPAs. Compliant with DPDP, Australia Privacy Act, and UAE PDPL."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Tactical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/>
            <a:r>
              <a:rPr lang="en-US" sz="1800" dirty="0">
                <a:latin typeface="Calibri"/>
              </a:rPr>
              <a:t>Content marketing: business growth, digital transformation, local compliance, and SaaS productivity tools.</a:t>
            </a:r>
          </a:p>
          <a:p>
            <a:pPr lvl="0"/>
            <a:r>
              <a:rPr lang="en-US" sz="1800" dirty="0">
                <a:latin typeface="Calibri"/>
              </a:rPr>
              <a:t>Case studies and testimonials from Australian and Middle East SMBs — including SaaS adoption and data governance trust stories.</a:t>
            </a:r>
          </a:p>
          <a:p>
            <a:pPr lvl="0"/>
            <a:r>
              <a:rPr lang="en-US" sz="1800" dirty="0">
                <a:latin typeface="Calibri"/>
              </a:rPr>
              <a:t>Search campaigns: 'small business website', 'accounting software Australia', 'IT support for small business', 'cloud cost management', 'SMB SaaS tools', 'data privacy compliance Australia'.</a:t>
            </a:r>
          </a:p>
          <a:p>
            <a:pPr lvl="0"/>
            <a:r>
              <a:rPr lang="en-US" sz="1800" dirty="0">
                <a:latin typeface="Calibri"/>
              </a:rPr>
              <a:t>Social media: digital marketing, finance transformation, IT infrastructure, e-commerce launches, and subscription product announcements.</a:t>
            </a:r>
          </a:p>
          <a:p>
            <a:pPr lvl="0"/>
            <a:r>
              <a:rPr lang="en-US" sz="1800" dirty="0">
                <a:latin typeface="Calibri"/>
              </a:rPr>
              <a:t>Product-led growth for SaaS products — free trials, usage-based onboarding, and in-product referrals to existing managed service clients.</a:t>
            </a:r>
          </a:p>
          <a:p>
            <a:pPr lvl="0"/>
            <a:r>
              <a:rPr lang="en-US" sz="1800" dirty="0">
                <a:latin typeface="Calibri"/>
              </a:rPr>
              <a:t>Partner-led BD: three regional partners in India, Dubai, and Australia driving network-based outreach and referrals.</a:t>
            </a:r>
          </a:p>
          <a:p>
            <a:pPr lvl="0"/>
            <a:r>
              <a:rPr lang="en-US" sz="1800" dirty="0">
                <a:latin typeface="Calibri"/>
              </a:rPr>
              <a:t>Regulatory compliance positioning: whitepaper and webinar series on DPDP Act (India), Privacy Act / APPs (Australia), and PDPL (UAE) as trust-building content.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Governance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/>
            <a:r>
              <a:rPr lang="en-US" sz="1800" dirty="0">
                <a:latin typeface="Calibri"/>
              </a:rPr>
              <a:t>Multi-tenancy by design: every client has logically isolated data — zero cross-tenant access possible.</a:t>
            </a:r>
          </a:p>
          <a:p>
            <a:pPr lvl="0"/>
            <a:r>
              <a:rPr lang="en-US" sz="1800" dirty="0">
                <a:latin typeface="Calibri"/>
              </a:rPr>
              <a:t>Managed Services: dedicated VPN/bastion per client, no shared credentials or monitoring agents.</a:t>
            </a:r>
          </a:p>
          <a:p>
            <a:pPr lvl="0"/>
            <a:r>
              <a:rPr lang="en-US" sz="1800" dirty="0">
                <a:latin typeface="Calibri"/>
              </a:rPr>
              <a:t>SaaS Products: tenant-scoped JWT at API gateway + RLS/schema-per-tenant at the data layer.</a:t>
            </a:r>
          </a:p>
          <a:p>
            <a:pPr lvl="0"/>
            <a:r>
              <a:rPr lang="en-US" sz="1800" dirty="0">
                <a:latin typeface="Calibri"/>
              </a:rPr>
              <a:t>Accounting &amp; E-commerce: per-client isolated schemas / access tokens stored in encrypted secrets vault.</a:t>
            </a:r>
          </a:p>
          <a:p>
            <a:pPr lvl="0"/>
            <a:r>
              <a:rPr lang="en-US" sz="1800" dirty="0">
                <a:latin typeface="Calibri"/>
              </a:rPr>
              <a:t>Data Residency: data stored in agreed region — India (DPDP Act 2023), Australia (Privacy Act 1988 / APPs), UAE (PDPL).</a:t>
            </a:r>
          </a:p>
          <a:p>
            <a:pPr lvl="0"/>
            <a:r>
              <a:rPr lang="en-US" sz="1800" dirty="0">
                <a:latin typeface="Calibri"/>
              </a:rPr>
              <a:t>Data Processing Agreements (DPAs) signed with every client before data ingestion — standard, not optional.</a:t>
            </a:r>
          </a:p>
          <a:p>
            <a:pPr lvl="0"/>
            <a:r>
              <a:rPr lang="en-US" sz="1800" dirty="0">
                <a:latin typeface="Calibri"/>
              </a:rPr>
              <a:t>RBAC enforced with quarterly access reviews; immutable audit logs retained for 12 months via SIEM.</a:t>
            </a:r>
          </a:p>
          <a:p>
            <a:pPr lvl="0"/>
            <a:r>
              <a:rPr lang="en-US" sz="1800" dirty="0">
                <a:latin typeface="Calibri"/>
              </a:rPr>
              <a:t>Certifications roadmap: ISO 27001 within 18 months, SOC 2 Type II within 24 months.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/>
            <a:r>
              <a:rPr lang="en-US" sz="1800" dirty="0">
                <a:latin typeface="Calibri"/>
              </a:rPr>
              <a:t>TechSprint is positioned as a practical growth partner for sole proprietors and SMBs across India, Australia, and the Middle East.</a:t>
            </a:r>
          </a:p>
          <a:p>
            <a:pPr lvl="0"/>
            <a:r>
              <a:rPr lang="en-US" sz="1800" dirty="0">
                <a:latin typeface="Calibri"/>
              </a:rPr>
              <a:t>Services cover the full client lifecycle: digital launch, marketing, accounting, tax compliance, IT infrastructure, cloud engineering, SaaS tools, and data governance.</a:t>
            </a:r>
          </a:p>
          <a:p>
            <a:pPr lvl="0"/>
            <a:r>
              <a:rPr lang="en-US" sz="1800" dirty="0">
                <a:latin typeface="Calibri"/>
              </a:rPr>
              <a:t>SaaS productization in Year 2 shifts TechSprint from labour-intensive delivery to scalable, high-margin recurring revenue.</a:t>
            </a:r>
          </a:p>
          <a:p>
            <a:pPr lvl="0"/>
            <a:r>
              <a:rPr lang="en-US" sz="1800" dirty="0">
                <a:latin typeface="Calibri"/>
              </a:rPr>
              <a:t>Data governance commitment — multi-tenant isolation, regional data residency, and DPA compliance — builds the trust regulated-industry clients require from an offshore IT partner.</a:t>
            </a:r>
          </a:p>
          <a:p>
            <a:pPr lvl="0"/>
            <a:r>
              <a:rPr lang="en-US" sz="1800" dirty="0">
                <a:latin typeface="Calibri"/>
              </a:rPr>
              <a:t>Targeting 10–15% of total revenue from SaaS products by Year 3, with data governance as a standard differentiator across all service 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1260</Words>
  <Application>Microsoft Office PowerPoint</Application>
  <PresentationFormat>On-screen Show (4:3)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Marketing Strategy</vt:lpstr>
      <vt:lpstr>Executive Summary</vt:lpstr>
      <vt:lpstr>Target Market</vt:lpstr>
      <vt:lpstr>Customer Journey</vt:lpstr>
      <vt:lpstr>Positioning</vt:lpstr>
      <vt:lpstr>Marketing Objectives</vt:lpstr>
      <vt:lpstr>Key Messaging</vt:lpstr>
      <vt:lpstr>Tactical Plan</vt:lpstr>
      <vt:lpstr>Data Governance &amp; Compliance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Rajendran Rathinasabapathy</cp:lastModifiedBy>
  <cp:revision>1</cp:revision>
  <dcterms:created xsi:type="dcterms:W3CDTF">2013-01-27T09:14:16Z</dcterms:created>
  <dcterms:modified xsi:type="dcterms:W3CDTF">2026-04-04T17:00:52Z</dcterms:modified>
  <cp:category/>
</cp:coreProperties>
</file>